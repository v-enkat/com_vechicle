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32e5deb-281f-4e99-e950-0abb1b7e15cb}">
          <p14:sldIdLst>
            <p14:sldId id="256"/>
          </p14:sldIdLst>
        </p14:section>
        <p14:section name="Context" id="{24a07e32-acf2-be72-7f6c-4add7ab1bfce}">
          <p14:sldIdLst>
            <p14:sldId id="257"/>
            <p14:sldId id="258"/>
            <p14:sldId id="259"/>
            <p14:sldId id="260"/>
          </p14:sldIdLst>
        </p14:section>
        <p14:section name="Data" id="{91630264-ac95-d70f-4ef6-5d7713f00f5f}">
          <p14:sldIdLst>
            <p14:sldId id="261"/>
            <p14:sldId id="262"/>
            <p14:sldId id="263"/>
          </p14:sldIdLst>
        </p14:section>
        <p14:section name="Analysis" id="{e5e451f5-f5e7-3954-3e3a-76526ce50d9f}">
          <p14:sldIdLst>
            <p14:sldId id="264"/>
            <p14:sldId id="265"/>
          </p14:sldIdLst>
        </p14:section>
        <p14:section name="Wrap-up" id="{e6888d3d-d599-1b11-9539-f3b29fd310a4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Commercial Vehicle Reliability &amp; Failure Pattern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0" y="6492240"/>
            <a:ext cx="459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Shri Venkat Subramani  |  AF05320059  |  ANP - D7444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AIML  |  PYTHON DATA ANALYSIS / EDA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Vehicle Reliability &amp; Failure Pattern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INDUSTRY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673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Automotive / Commercial Vehicle &amp; Fleet Maintenance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5303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,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35024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35024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901952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01952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468880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5303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,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163824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3824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3730752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0752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297680" y="4892040"/>
            <a:ext cx="502920" cy="7315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4892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4"/>
                </a:solidFill>
              </a:rPr>
              <a:t>rows in the initial MOT dataset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731520"/>
            <a:ext cx="3520440" cy="5394960"/>
          </a:xfrm>
          <a:prstGeom prst="roundRect">
            <a:avLst>
              <a:gd name="adj" fmla="val 38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STUDENT NAME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Shri Venkat Subramani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2039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STUDENT ID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2313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AF05320059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026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COURSE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3300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AIML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40142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ORGANIZATION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288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Anudip Foundation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5001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BATCH CODE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276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ANP - D7444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INDUSTRY OVERVIEW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Industry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0" descr="Fleet Ope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208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Fleet Operations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29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Commercial fleets rely on vehicles being available and fit for use day to day.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92424" y="155448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66744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1" descr="Reliability &amp; Availa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02082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6744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Reliability &amp; Availability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666744" y="3429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Reliable vehicles stay available; failures can reduce fleet availability.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36208" y="155448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10528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2" descr="Maintenance Pla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0208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10528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Maintenance Planning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510528" y="3429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Planned maintenance helps fleets prepare for the kinds of failures that occur.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79992" y="1554480"/>
            <a:ext cx="2560320" cy="33832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54312" y="18288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3" descr="Data Analys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02082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54312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Analysis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354312" y="3429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Test records can be analysed to identify recurring vehicle failure patterns.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686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THIS PROJECT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2834640" y="53949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Analysing MOT test records to identify observed failure patterns that can support maintenance planning.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94360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3317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Vehicle failures can affect fleet reliability and maintenance planning. Analysing failures using only a single factor such as vehicle age, mileage, or failure type may not provide a complete view of failure patterns.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This project analyses multiple vehicle and test-related factors together to understand patterns associated with MOT test failures.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0" y="1554480"/>
            <a:ext cx="487375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088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0" descr="Why it is impor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2121408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9095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is important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2103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Vehicle failures can affect fleet reliability and maintenance planning.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66560" y="3154680"/>
            <a:ext cx="487375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040880" y="35661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1" descr="Who can be affec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372160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0956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can be affected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909560" y="3703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Fleet operators, maintenance planners, and vehicle users.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766560" y="4754880"/>
            <a:ext cx="487375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40880" y="51663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Image 2" descr="How it supports pla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532180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90956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 supports planning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7909560" y="5303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Failure-pattern analysis can help prioritise vehicles and defects for maintenance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PROJECT OBJECTIVES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691640"/>
            <a:ext cx="512064" cy="512064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55448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Analyse MOT test result patterns.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44200" y="167335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0"/>
            <a:ext cx="237744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2500884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2638044"/>
            <a:ext cx="512064" cy="512064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6380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2500884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Examine how vehicle mileage is associated with failure rates.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744200" y="2619756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2775204"/>
            <a:ext cx="237744" cy="2377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" y="3447288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584448"/>
            <a:ext cx="512064" cy="512064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7240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1554480" y="344728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Examine how vehicle age is associated with failure rates.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0744200" y="3566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721608"/>
            <a:ext cx="237744" cy="23774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48640" y="4393692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7240" y="4530852"/>
            <a:ext cx="512064" cy="512064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77240" y="45308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554480" y="4393692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failure rates across vehicle characteristics such as make, fuel type, vehicle class, test type, and engine capacity.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10744200" y="4512564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4668012"/>
            <a:ext cx="237744" cy="237744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8640" y="5340096"/>
            <a:ext cx="1109167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77240" y="5477256"/>
            <a:ext cx="512064" cy="512064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77240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1554480" y="5340096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Analyse recorded failure items and examine the combined relationship between vehicle age, mileage, and failure rates.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0744200" y="5458968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7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48" y="5614416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PROPOSED SOLUTION &amp; ANALYSIS QUESTIONS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Solution &amp;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297680" cy="466344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1945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Python-based data cleaning, transformation, exploratory data analysis, and visualization to identify vehicle failure patterns from MOT test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3657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77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544568"/>
            <a:ext cx="3657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5445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44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Transformation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5111496"/>
            <a:ext cx="3657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1114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11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Exploratory Data Analysis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5678424"/>
            <a:ext cx="3657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567842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678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ANALYSIS QUESTIONS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920240"/>
            <a:ext cx="316839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21031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does vehicle mileage relate to MOT failure rates?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71916" y="1920240"/>
            <a:ext cx="316839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54796" y="21031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5479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85148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does vehicle age relate to MOT failure rates?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20640" y="3383280"/>
            <a:ext cx="316839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833872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failure rates vary across different vehicle makes?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71916" y="3383280"/>
            <a:ext cx="316839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54796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547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85148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fuel type, vehicle class, test type, and engine capacity relate to failure rates?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120640" y="4846320"/>
            <a:ext cx="316839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03520" y="5029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833872" y="5029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are the most frequently recorded vehicle defects?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71916" y="4846320"/>
            <a:ext cx="3168396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654796" y="5029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54796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Q6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185148" y="5029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vehicle age and mileage together relate to failure rates?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DATASET INFORMATION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14039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1755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INITIAL JANUARY 2024 TEST-RESULT DATA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6,140,803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rows × 15 columns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6999" y="1554480"/>
            <a:ext cx="3514039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11319" y="1755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/>
              <a:t>CLEANED JANUARY 2024 TEST-RESULT DATA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4611319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3,848,518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611319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3C4"/>
                </a:solidFill>
              </a:rPr>
              <a:t>rows × 15 columns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5358" y="1554480"/>
            <a:ext cx="3514039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99678" y="1755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FAILURE-ITEM DATASET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99678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10,451,564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399678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records × 6 columns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4206240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DATASET NAME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7764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UK DVSA Anonymised MOT Results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DATASET SOURCE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4165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UK Driver and Vehicle Standards Agency (DVSA) open data resource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57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FILE FORMAT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5138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CSV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0" y="3246120"/>
            <a:ext cx="6611112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34924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IMPORTANT FEATURES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49240" y="38404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4924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34072" y="38404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34072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18904" y="38404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18904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49240" y="42976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92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test_class_id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34072" y="42976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34072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test_type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518904" y="42976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18904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test_result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49240" y="47548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49240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test_mileage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34072" y="47548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34072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518904" y="47548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518904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349240" y="52120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49240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34072" y="52120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34072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fuel_type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518904" y="52120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518904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cylinder_capacity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49240" y="56692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349240" y="5669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first_use_date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434072" y="5669280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34072" y="5669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completed_date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DATA COLLECTION &amp; UNDERSTANDING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Collection &amp;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0" cy="409651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MOT data obtained from the UK DVSA open data resource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122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Dataset shape examined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6243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Column names and data types examined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1363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1363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Test-result distribution analysed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64845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6484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Mileage information examined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Vehicle characteristics examined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467258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4864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6725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Date fields examined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8640" y="518464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548640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5184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Failure-related information analysed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48640" y="56967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548640" y="5696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696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Duplicate and invalid/header-like records identified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766560" y="1554480"/>
            <a:ext cx="487375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949440" y="17373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132320" y="17373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315200" y="173736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7589520" y="169164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3C4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49440" y="2057400"/>
            <a:ext cx="4507992" cy="3977640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dash"/>
          </a:ln>
        </p:spPr>
        <p:txBody>
          <a:bodyPr/>
          <a:p/>
        </p:txBody>
      </p:sp>
      <p:pic>
        <p:nvPicPr>
          <p:cNvPr id="42" name="Picture 41" descr="clean_slid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2093976"/>
            <a:ext cx="4251960" cy="3904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DATA CLEANING &amp; TRANSFORMATION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Cleaning &amp; Transformation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12064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373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73736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1691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3C4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057400"/>
            <a:ext cx="4754880" cy="3977640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035040" y="1609344"/>
            <a:ext cx="164592" cy="1645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1072" y="1572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Clean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60934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62672" y="1572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Convert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160934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4272" y="1572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Create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01168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011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Removed invalid/header-like records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239572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395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Converted test_date into datetime format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277977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7797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Converted first_use_date into datetime format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316382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163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Converted completed_date into datetime format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35040" y="35478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3504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547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Converted test_mileage into numeric format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0" y="39319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39319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Converted cylinder_capacity into numeric format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35040" y="4315968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43159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Removed duplicate records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035040" y="4700016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35040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7000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Reset the dataframe index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35040" y="508406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3504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0840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vehicle age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035040" y="54681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3504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492240" y="54681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vehicle age groups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035040" y="585216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35040" y="5852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492240" y="58521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mileage groups</a:t>
            </a:r>
            <a:endParaRPr lang="en-US" sz="1400" dirty="0"/>
          </a:p>
        </p:txBody>
      </p:sp>
      <p:pic>
        <p:nvPicPr>
          <p:cNvPr id="54" name="Picture 53" descr="clean_slid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93976"/>
            <a:ext cx="4498848" cy="3904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EXPLORATORY DATA ANALYSIS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609344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57276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Outcome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05940" y="160934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61972" y="1572768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Age &amp; mileage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9584" y="160934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5727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Vehicle &amp; test characteristics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74536" y="1609344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30568" y="1572768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Recorded failure items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9344"/>
            <a:ext cx="164592" cy="16459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3728" y="1572768"/>
            <a:ext cx="1284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Combined 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01168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226771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267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08483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Result Distribution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64992" y="201168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02152" y="226771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02152" y="2267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50792" y="208483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Mileage vs Failure Rate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81344" y="201168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18504" y="226771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18504" y="2267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67144" y="208483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Age vs Failure Rate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97696" y="201168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34856" y="226771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34856" y="2267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83496" y="208483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Make-wise Failure Rate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06324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331927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3192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3136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Fuel Type Analysis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64992" y="306324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02152" y="331927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02152" y="33192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050792" y="3136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Class Analysis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81344" y="306324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18504" y="331927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18504" y="33192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867144" y="3136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Type Analysis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997696" y="306324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134856" y="331927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34856" y="33192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683496" y="3136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Engine Capacity Analysis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411480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" y="437083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43708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234440" y="418795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Colour Analysis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364992" y="411480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502152" y="437083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02152" y="43708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050792" y="418795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Failure Item Type Analysis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181344" y="411480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318504" y="437083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18504" y="43708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867144" y="418795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Dangerous Mark Analysis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997696" y="411480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134856" y="437083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34856" y="43708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683496" y="418795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Defect Location Analysis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48640" y="516636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85800" y="542239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5800" y="5422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1234440" y="52395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Vehicle Defects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3364992" y="516636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502152" y="542239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502152" y="5422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4050792" y="52395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Dangerous Failure by Failure Type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181344" y="516636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318504" y="542239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18504" y="5422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867144" y="52395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Defect Category Analysis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8997696" y="5166360"/>
            <a:ext cx="263347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134856" y="5422392"/>
            <a:ext cx="420624" cy="402336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34856" y="5422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9683496" y="52395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Combined Age + Mileage Failure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DATA VISUALIZATION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Visualization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691640"/>
            <a:ext cx="274320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1188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Result Distribution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Understand the distribution of MOT test outcomes.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36792" y="1691640"/>
            <a:ext cx="274320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262872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Failure Rate by Mileage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62872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Examine failure rates across mileage groups.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62872" y="2834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Failure rates generally increase with mileage, with the highest observed rate in the 150–200k group.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4114800"/>
            <a:ext cx="274320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61188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Make-wise Failure Rate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617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Compare observed failure rates across vehicle makes.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9632" y="397764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36792" y="4114800"/>
            <a:ext cx="2743200" cy="1965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262872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Age and Mileage Combined Failure Rate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62872" y="4617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Examine failure rates across combinations of vehicle age and mileage.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62872" y="5257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Older vehicles combined with higher mileage generally show higher observed failure rates.</a:t>
            </a:r>
            <a:endParaRPr lang="en-US" sz="1200" dirty="0"/>
          </a:p>
        </p:txBody>
      </p:sp>
      <p:pic>
        <p:nvPicPr>
          <p:cNvPr id="30" name="Actual Visualization - distribution_analysis.png" descr="distributi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28216"/>
            <a:ext cx="2578608" cy="1892808"/>
          </a:xfrm>
          <a:prstGeom prst="rect">
            <a:avLst/>
          </a:prstGeom>
        </p:spPr>
      </p:pic>
      <p:pic>
        <p:nvPicPr>
          <p:cNvPr id="31" name="Actual Visualization - trend_analysis.png" descr="trend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728216"/>
            <a:ext cx="2578608" cy="1892808"/>
          </a:xfrm>
          <a:prstGeom prst="rect">
            <a:avLst/>
          </a:prstGeom>
        </p:spPr>
      </p:pic>
      <p:pic>
        <p:nvPicPr>
          <p:cNvPr id="32" name="Actual Visualization - category_analysis.png" descr="category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51376"/>
            <a:ext cx="2578608" cy="1892808"/>
          </a:xfrm>
          <a:prstGeom prst="rect">
            <a:avLst/>
          </a:prstGeom>
        </p:spPr>
      </p:pic>
      <p:pic>
        <p:nvPicPr>
          <p:cNvPr id="33" name="Actual Visualization - correlation_analysis.png" descr="correlation_analys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151376"/>
            <a:ext cx="257860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KEY INSIGHTS &amp; RECOMMENDATIONS</a:t>
            </a:r>
            <a:endParaRPr lang="en-US" sz="12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Key Insights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128016" cy="1280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0584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 rates generally increase as vehicle mileage increases.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28016" cy="1280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5840" y="20756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 rates generally increase with vehicle age.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267004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61488"/>
            <a:ext cx="128016" cy="1280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5840" y="259689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 rates vary across vehicle makes.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19125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82696"/>
            <a:ext cx="128016" cy="1280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5840" y="31181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 rates vary across fuel types and vehicle classes.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71246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03904"/>
            <a:ext cx="128016" cy="12801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5840" y="36393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Vehicle Class 7 showed a higher observed failure rate than the other analysed vehicle classes.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2336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25112"/>
            <a:ext cx="128016" cy="12801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0584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Different engine-capacity groups showed different observed failure rates.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48640" y="47548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46320"/>
            <a:ext cx="128016" cy="12801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05840" y="4681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Tyre, wear, corrosion, and structural/component-related defects were among the frequently recorded failure items.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548640" y="527608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367528"/>
            <a:ext cx="128016" cy="12801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5840" y="52029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Older vehicles combined with higher mileage generally showed higher observed failure rates.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7772400" y="1508760"/>
            <a:ext cx="3867912" cy="4206240"/>
          </a:xfrm>
          <a:prstGeom prst="roundRect">
            <a:avLst>
              <a:gd name="adj" fmla="val 28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809244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809244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8503920" y="21945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Give greater maintenance attention to older and higher-mileage vehicles.</a:t>
            </a:r>
            <a:endParaRPr lang="en-US" sz="1400" dirty="0"/>
          </a:p>
        </p:txBody>
      </p:sp>
      <p:sp>
        <p:nvSpPr>
          <p:cNvPr id="36" name="Text 26"/>
          <p:cNvSpPr txBox="1"/>
          <p:nvPr/>
        </p:nvSpPr>
        <p:spPr>
          <a:xfrm>
            <a:off x="8092440" y="2889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27"/>
          <p:cNvSpPr txBox="1"/>
          <p:nvPr/>
        </p:nvSpPr>
        <p:spPr>
          <a:xfrm>
            <a:off x="8503920" y="28895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Monitor frequently occurring defect categories.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8092440" y="3584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29"/>
          <p:cNvSpPr txBox="1"/>
          <p:nvPr/>
        </p:nvSpPr>
        <p:spPr>
          <a:xfrm>
            <a:off x="8503920" y="35844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Consider higher-age and higher-mileage vehicles for closer inspection.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8092440" y="4279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8503920" y="42793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Monitor failure patterns across vehicle classes, makes, and fuel types.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8092440" y="49743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8503920" y="49743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 historical MOT failure patterns as a supporting source for maintenance planning.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548640" y="5852160"/>
            <a:ext cx="11091672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777240" y="585216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These findings represent associations and observed patterns in the dataset and do not establish direct causation.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CONCLUSION &amp; 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07624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7624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201400" y="566928"/>
            <a:ext cx="438912" cy="603504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566928"/>
            <a:ext cx="438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5760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The project analysed anonymised MOT test data using Python.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Data was cleaned and transformed before analysis.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EDA was performed across vehicle age, mileage, make, fuel type, vehicle class, test type, engine capacity, and recorded defects.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The analysis identified important observed failure patterns.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Combined age and mileage analysis provided a broader view of failure patterns.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</a:rPr>
              <a:t>The findings can support more informed vehicle reliability and maintenance planning.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231136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2231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Develop a vehicle failure-risk prediction model.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5120" y="301752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3236976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017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Use historical test records for predictive maintenance analysis.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5120" y="402336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42816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023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Build a fleet-level maintenance prioritization system.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75120" y="5029200"/>
            <a:ext cx="496519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5248656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5248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5029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Include more historical data for deeper trend analysis.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 Diagnostic">
  <a:themeElements>
    <a:clrScheme name="MOT Diagnostic">
      <a:dk1>
        <a:srgbClr val="0B1220"/>
      </a:dk1>
      <a:lt1>
        <a:srgbClr val="FFFFFF"/>
      </a:lt1>
      <a:dk2>
        <a:srgbClr val="1B2A41"/>
      </a:dk2>
      <a:lt2>
        <a:srgbClr val="F2F4F7"/>
      </a:lt2>
      <a:accent1>
        <a:srgbClr val="FF9F1C"/>
      </a:accent1>
      <a:accent2>
        <a:srgbClr val="0F9D94"/>
      </a:accent2>
      <a:accent3>
        <a:srgbClr val="E5484D"/>
      </a:accent3>
      <a:accent4>
        <a:srgbClr val="5C6B80"/>
      </a:accent4>
      <a:accent5>
        <a:srgbClr val="3D7BF7"/>
      </a:accent5>
      <a:accent6>
        <a:srgbClr val="B86B00"/>
      </a:accent6>
      <a:hlink>
        <a:srgbClr val="3D7BF7"/>
      </a:hlink>
      <a:folHlink>
        <a:srgbClr val="5C6B80"/>
      </a:folHlink>
    </a:clrScheme>
    <a:fontScheme name="MOT Diagnost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Vehicle Reliability &amp; Failure Pattern Analysis</dc:title>
  <dc:subject>PptxGenJS Presentation</dc:subject>
  <dc:creator>Shri Venkat Subramani</dc:creator>
  <cp:lastModifiedBy>Shri Venkat Subramani</cp:lastModifiedBy>
  <cp:revision>1</cp:revision>
  <dcterms:created xsi:type="dcterms:W3CDTF">2026-10-06T20:07:37Z</dcterms:created>
  <dcterms:modified xsi:type="dcterms:W3CDTF">2026-10-06T20:07:37Z</dcterms:modified>
</cp:coreProperties>
</file>