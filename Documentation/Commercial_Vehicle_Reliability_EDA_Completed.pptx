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EB6E9F5-162E-4EBD-8D83-675D0431B88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Good morning. I am Shri Venkat Subramani. My project is Commercial Vehicle Reliability and Failure Pattern Analysis, done in Python using the UK DVSA MOT dataset for 2024.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AC5A8ED-6E62-4173-94C9-18EE9DD928B9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Commercial vehicles keep goods moving. When a vehicle is unavailable, deliveries get delayed and costs go up. MOT data gives a large, real record of vehicle test outcomes, so analysis can show where failure patterns appear.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735CBE1-B4A3-4BB1-9BC7-1B98D3453D1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Most analysis looks at one factor only. My idea is that failure risk depends on a combination of factors. Important: an MOT failure is a test result, not a roadside breakdown.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41BB89C-DE62-4D15-BB2E-50AA135B22CE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These are my objectives. Completed and in-progress status must match your notebook; please update the status column before presenting.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C5CF952-28DB-49EA-B89F-40186A7D8B44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 use Python with Pandas for cleaning and grouping, NumPy for numeric work, and Matplotlib for charts. These are the six questions the analysis answers. Numerical answers appear only where verified.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B9096F0-9BF4-4B27-9FA7-A223282FF82B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the DVSA anonymised MOT dataset for 2024 in CSV format. The final row and column counts are still being verified, so I have marked them as to be verified.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EABF09A-5D69-4510-95E5-4A10AE3DEA5A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Explain only what you actually did: how you got the files and how you inspected them. Then show your four screenshots. Do not add outputs you have not run.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9737E90-3333-4010-930D-E23874FFC74C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Tick only the steps your notebook really performs and delete the rest. Do not say global duplicate removal or commercial-vehicle filtering is done unless the code confirms it.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A247A0F-03B4-4B17-B313-DF5025F1F693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Only the overall failure rate has been previously reported. Everything else is pending until you run it. Replace each pending result with your verified output.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7C0AE6-BECE-49C2-8940-978DDC6351EF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These are the planned Matplotlib charts. No chart has been created yet, so each shows a placeholder. Insert real charts after running the calculations.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9E8ED6B-0EA7-45C3-92D2-8F2A37A156F1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Insights come only from verified outputs, so this side is mostly pending. Recommendations are general good practice and are not findings from this dataset.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8CEF10-37D6-4E99-900F-CE17E3D56105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 conclude: this project builds a clean, honest EDA of MOT failure patterns. Final findings depend on verification. Future work adds maintenance and breakdown data, and only then models.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B9D5B60-459E-47A3-A210-F2CAA45B0528}" type="slidenum">
              <a:rPr b="0" lang="en-US" sz="18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457200" y="914400"/>
            <a:ext cx="72720" cy="201132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31520" y="82296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Commercial Vehicle Reliability &amp; Failure Pattern Analysis</a:t>
            </a:r>
            <a:endParaRPr b="0" lang="en-US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731520" y="22860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dc1f5"/>
                </a:solidFill>
                <a:effectLst/>
                <a:uFillTx/>
                <a:latin typeface="Calibri"/>
                <a:ea typeface="Calibri"/>
              </a:rPr>
              <a:t>Industry: Commercial Vehicle / Automotive / Transportation &amp; Logistics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265176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9d6ea"/>
                </a:solidFill>
                <a:effectLst/>
                <a:uFillTx/>
                <a:latin typeface="Calibri"/>
                <a:ea typeface="Calibri"/>
              </a:rPr>
              <a:t>Python-based Data Analysis and EDA  |  UK DVSA MOT Dataset 2024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3474720"/>
            <a:ext cx="7314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Student: Shri Venkat Subramani M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Student ID: AF05320059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Course: AIML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Batch Code: ANP – D7444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Industry Overview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2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4"/>
          <p:cNvSpPr/>
          <p:nvPr/>
        </p:nvSpPr>
        <p:spPr>
          <a:xfrm>
            <a:off x="457200" y="1097280"/>
            <a:ext cx="4023000" cy="17370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457200" y="1097280"/>
            <a:ext cx="54360" cy="17370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64008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The Industry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640080" y="1554480"/>
            <a:ext cx="3702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Commercial vehicles, automotive, transport and logistics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Fleets depend on vehicles being roadworthy and available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4663440" y="1097280"/>
            <a:ext cx="4023000" cy="17370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9"/>
          <p:cNvSpPr/>
          <p:nvPr/>
        </p:nvSpPr>
        <p:spPr>
          <a:xfrm>
            <a:off x="4663440" y="1097280"/>
            <a:ext cx="54360" cy="17370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484632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Why Reliability Matters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1"/>
          <p:cNvSpPr/>
          <p:nvPr/>
        </p:nvSpPr>
        <p:spPr>
          <a:xfrm>
            <a:off x="4846320" y="1554480"/>
            <a:ext cx="3702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Unplanned unavailability delays deliveries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Raises repair and operating costs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Reduces fleet efficiency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2"/>
          <p:cNvSpPr/>
          <p:nvPr/>
        </p:nvSpPr>
        <p:spPr>
          <a:xfrm>
            <a:off x="457200" y="3017520"/>
            <a:ext cx="8229240" cy="164556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3"/>
          <p:cNvSpPr/>
          <p:nvPr/>
        </p:nvSpPr>
        <p:spPr>
          <a:xfrm>
            <a:off x="457200" y="3017520"/>
            <a:ext cx="54360" cy="164556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640080" y="3108960"/>
            <a:ext cx="7954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Why Data Analysis Helps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640080" y="3474720"/>
            <a:ext cx="79092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MOT records show observed test failure patterns at large scale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Helps maintenance teams decide where to look first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Problem Statement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3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4"/>
          <p:cNvSpPr/>
          <p:nvPr/>
        </p:nvSpPr>
        <p:spPr>
          <a:xfrm>
            <a:off x="457200" y="1051560"/>
            <a:ext cx="8229240" cy="8226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594360" y="1051560"/>
            <a:ext cx="7954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Failure risk may depend on the combination of vehicle age, kilometres travelled, vehicle type, previous test history and previous defects, not on one factor alone.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6"/>
          <p:cNvSpPr/>
          <p:nvPr/>
        </p:nvSpPr>
        <p:spPr>
          <a:xfrm>
            <a:off x="457200" y="2057400"/>
            <a:ext cx="4023000" cy="26514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457200" y="2057400"/>
            <a:ext cx="54360" cy="26514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640080" y="21488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Why one variable is not enough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640080" y="2514600"/>
            <a:ext cx="3702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Age alone ignores usage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Mileage alone ignores vehicle type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Combined view may reveal more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Who is affected: fleet operators, maintenance teams, logistics companies, vehicle owners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0"/>
          <p:cNvSpPr/>
          <p:nvPr/>
        </p:nvSpPr>
        <p:spPr>
          <a:xfrm>
            <a:off x="4663440" y="2057400"/>
            <a:ext cx="4023000" cy="26514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4663440" y="2057400"/>
            <a:ext cx="54360" cy="26514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4846320" y="214884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Important distinction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4846320" y="2514600"/>
            <a:ext cx="37029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MOT failure = failed a periodic roadworthiness test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Breakdown = unplanned failure on the road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This project does NOT claim MOT failure rates equal breakdown probability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 Objectives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4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" name="Table 0"/>
          <p:cNvGraphicFramePr/>
          <p:nvPr/>
        </p:nvGraphicFramePr>
        <p:xfrm>
          <a:off x="457200" y="1097280"/>
          <a:ext cx="8229240" cy="3291840"/>
        </p:xfrm>
        <a:graphic>
          <a:graphicData uri="http://schemas.openxmlformats.org/drawingml/2006/table">
            <a:tbl>
              <a:tblPr/>
              <a:tblGrid>
                <a:gridCol w="457200"/>
                <a:gridCol w="4754880"/>
                <a:gridCol w="301752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#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Objective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Status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Understand structure and quality of the 2024 MOT dataset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Completed: full-year file inspected; schema and outputs documented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Assess missing values and duplicate records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In progress: raw missing values counted; duplicate reconciliation open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Explore MOT outcomes and observed failure rates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Preliminary outputs calculated; denominator conflict must be reconciled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Investigate failure patterns by age, mileage and vehicle characteristics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Completed in notebook: age, mileage, make/model and combined age–mileage summaries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0b1f3a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Develop insights to support maintenance planning</a:t>
                      </a:r>
                      <a:endParaRPr b="0" lang="en-US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1000">
                          <a:latin typeface="Aptos"/>
                        </a:defRPr>
                      </a:pPr>
                      <a:r>
                        <a:t>Initial findings prepared; validate counts before final submission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Proposed Solution &amp; Analysis Questions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5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"/>
          <p:cNvSpPr/>
          <p:nvPr/>
        </p:nvSpPr>
        <p:spPr>
          <a:xfrm>
            <a:off x="457200" y="1097280"/>
            <a:ext cx="2925720" cy="356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457200" y="1097280"/>
            <a:ext cx="54360" cy="35658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640080" y="118872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Tools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640080" y="1554480"/>
            <a:ext cx="26056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Python: workflow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Pandas: clean, transform, group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NumPy: numeric operations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Matplotlib: visualisation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3566160" y="1097280"/>
            <a:ext cx="5120280" cy="356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3566160" y="1097280"/>
            <a:ext cx="54360" cy="35658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3749040" y="118872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Analysis Questions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3749040" y="1554480"/>
            <a:ext cx="480024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Share of valid MOT tests that failed?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How does failure rate vary by vehicle age?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How does it vary across mileage groups?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Which makes and models have higher observed rates?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How does it vary by vehicle characteristics?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Where history exists, how do previous failures relate to later outcomes?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Dataset Information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6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4"/>
          <p:cNvSpPr/>
          <p:nvPr/>
        </p:nvSpPr>
        <p:spPr>
          <a:xfrm>
            <a:off x="457200" y="1097280"/>
            <a:ext cx="4023000" cy="356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457200" y="1097280"/>
            <a:ext cx="54360" cy="35658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6"/>
          <p:cNvSpPr/>
          <p:nvPr/>
        </p:nvSpPr>
        <p:spPr>
          <a:xfrm>
            <a:off x="64008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640080" y="1554480"/>
            <a:ext cx="3702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wrap="square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  <a:defRPr sz="1200" b="0">
                <a:solidFill>
                  <a:srgbClr val="1E2D40"/>
                </a:solidFill>
                <a:latin typeface="Aptos"/>
              </a:defRPr>
            </a:pPr>
            <a:r>
              <a:t>Name: UK DVSA anonymised MOT test results, 2024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Source: Driver and Vehicle Standards Agency (DVSA)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Format: CSV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Raw full-year rows: 66,857,535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Source columns: 15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Notebook cleaned output: 43,441,151 rows (reported)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Expected after reported duplicate removal: 43,442,376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Unresolved difference: 1,225 rows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Scope: full-year 2024 MOT tests; not a single delivery fleet</a:t>
            </a:r>
          </a:p>
        </p:txBody>
      </p:sp>
      <p:sp>
        <p:nvSpPr>
          <p:cNvPr id="68" name="Shape 8"/>
          <p:cNvSpPr/>
          <p:nvPr/>
        </p:nvSpPr>
        <p:spPr>
          <a:xfrm>
            <a:off x="4663440" y="1097280"/>
            <a:ext cx="4023000" cy="356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4663440" y="1097280"/>
            <a:ext cx="54360" cy="35658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484632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Important Fields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4846320" y="1554480"/>
            <a:ext cx="3702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wrap="square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  <a:defRPr sz="1200" b="0">
                <a:solidFill>
                  <a:srgbClr val="1E2D40"/>
                </a:solidFill>
                <a:latin typeface="Aptos"/>
              </a:defRPr>
            </a:pPr>
            <a:r>
              <a:t>test_id, vehicle_id, test_date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test_class_id, test_type, test_result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test_mileage, postcode_area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make, model, colour, fuel_type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cylinder_capacity, first_use_date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completed_date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Derived fields in notebook: vehicle_age, vehicle_age_group, mileage_group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Class 7 is examined as a commercial-goods-vehicle subset; overall charts use the broader MOT dataset.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Collection and Understanding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7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457200" y="109728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wrap="square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  <a:defRPr sz="1200" b="0">
                <a:solidFill>
                  <a:srgbClr val="1E2D40"/>
                </a:solidFill>
                <a:latin typeface="Aptos"/>
              </a:defRPr>
            </a:pPr>
            <a:r>
              <a:t>Source: DVSA anonymised MOT test-result CSVs for January–December 2024, assembled into a full-year file.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Pandas checks: column structure, test-result categories, missing values, duplicate records, age and mileage distributions.</a:t>
            </a:r>
          </a:p>
          <a:p>
            <a:pPr>
              <a:spcAft>
                <a:spcPts val="400"/>
              </a:spcAft>
              <a:defRPr sz="1200" b="0">
                <a:solidFill>
                  <a:srgbClr val="1E2D40"/>
                </a:solidFill>
                <a:latin typeface="Aptos"/>
              </a:defRPr>
            </a:pPr>
            <a:r>
              <a:t>Raw file: 66,857,535 rows; 15 source columns. Repeated header rows and CSV parsing/quoting issues were investigated.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2743200"/>
            <a:ext cx="1920240" cy="1600200"/>
          </a:xfrm>
          <a:prstGeom prst="roundRect">
            <a:avLst/>
          </a:prstGeom>
          <a:solidFill>
            <a:srgbClr val="F2F7FD"/>
          </a:solidFill>
          <a:ln>
            <a:solidFill>
              <a:srgbClr val="237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2852928"/>
            <a:ext cx="17007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370F0"/>
                </a:solidFill>
                <a:latin typeface="Aptos"/>
              </a:defRPr>
            </a:pPr>
            <a:r>
              <a:t>SCHEMA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" y="3154680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F3B"/>
                </a:solidFill>
                <a:latin typeface="Aptos"/>
              </a:defRPr>
            </a:pPr>
            <a:r>
              <a:t>15 source columns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520440"/>
            <a:ext cx="1700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E2D40"/>
                </a:solidFill>
                <a:latin typeface="Aptos"/>
              </a:defRPr>
            </a:pPr>
            <a:r>
              <a:t>test_id • vehicle_id • test_date</a:t>
            </a:r>
          </a:p>
          <a:p>
            <a:pPr>
              <a:spcAft>
                <a:spcPts val="400"/>
              </a:spcAft>
              <a:defRPr sz="900" b="0">
                <a:solidFill>
                  <a:srgbClr val="1E2D40"/>
                </a:solidFill>
                <a:latin typeface="Aptos"/>
              </a:defRPr>
            </a:pPr>
            <a:r>
              <a:t>test_result • test_mileage • make/model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514600" y="2743200"/>
            <a:ext cx="1920240" cy="1600200"/>
          </a:xfrm>
          <a:prstGeom prst="roundRect">
            <a:avLst/>
          </a:prstGeom>
          <a:solidFill>
            <a:srgbClr val="F2F7FD"/>
          </a:solidFill>
          <a:ln>
            <a:solidFill>
              <a:srgbClr val="237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24328" y="2852928"/>
            <a:ext cx="17007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370F0"/>
                </a:solidFill>
                <a:latin typeface="Aptos"/>
              </a:defRPr>
            </a:pPr>
            <a:r>
              <a:t>RAW QUALITY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24328" y="3154680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F3B"/>
                </a:solidFill>
                <a:latin typeface="Aptos"/>
              </a:defRPr>
            </a:pPr>
            <a:r>
              <a:t>66.86M rows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24328" y="3520440"/>
            <a:ext cx="1700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E2D40"/>
                </a:solidFill>
                <a:latin typeface="Aptos"/>
              </a:defRPr>
            </a:pPr>
            <a:r>
              <a:t>Missing mileage: 537,738</a:t>
            </a:r>
          </a:p>
          <a:p>
            <a:pPr>
              <a:spcAft>
                <a:spcPts val="400"/>
              </a:spcAft>
              <a:defRPr sz="900" b="0">
                <a:solidFill>
                  <a:srgbClr val="1E2D40"/>
                </a:solidFill>
                <a:latin typeface="Aptos"/>
              </a:defRPr>
            </a:pPr>
            <a:r>
              <a:t>Missing engine capacity: 834,190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0" y="2743200"/>
            <a:ext cx="1920240" cy="1600200"/>
          </a:xfrm>
          <a:prstGeom prst="roundRect">
            <a:avLst/>
          </a:prstGeom>
          <a:solidFill>
            <a:srgbClr val="F2F7FD"/>
          </a:solidFill>
          <a:ln>
            <a:solidFill>
              <a:srgbClr val="237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681728" y="2852928"/>
            <a:ext cx="17007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370F0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81728" y="3154680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F3B"/>
                </a:solidFill>
                <a:latin typeface="Aptos"/>
              </a:defRPr>
            </a:pPr>
            <a:r>
              <a:t>23.42M reported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81728" y="3520440"/>
            <a:ext cx="1700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E2D40"/>
                </a:solidFill>
                <a:latin typeface="Aptos"/>
              </a:defRPr>
            </a:pPr>
            <a:r>
              <a:t>35.02% of raw rows flagged as exact duplicates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29400" y="2743200"/>
            <a:ext cx="1920240" cy="1600200"/>
          </a:xfrm>
          <a:prstGeom prst="roundRect">
            <a:avLst/>
          </a:prstGeom>
          <a:solidFill>
            <a:srgbClr val="F2F7FD"/>
          </a:solidFill>
          <a:ln>
            <a:solidFill>
              <a:srgbClr val="237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39128" y="2852928"/>
            <a:ext cx="170078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2370F0"/>
                </a:solidFill>
                <a:latin typeface="Aptos"/>
              </a:defRPr>
            </a:pPr>
            <a:r>
              <a:t>VALID OUTCOMES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39128" y="3154680"/>
            <a:ext cx="1700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C1F3B"/>
                </a:solidFill>
                <a:latin typeface="Aptos"/>
              </a:defRPr>
            </a:pPr>
            <a:r>
              <a:t>66.45M records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39128" y="3520440"/>
            <a:ext cx="1700784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1E2D40"/>
                </a:solidFill>
                <a:latin typeface="Aptos"/>
              </a:defRPr>
            </a:pPr>
            <a:r>
              <a:t>P + F + PRS; raw-file rate 17.26% (preliminary)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Cleaning and Transformation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8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02920" y="102412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370F0"/>
                </a:solidFill>
                <a:latin typeface="Aptos"/>
              </a:defRPr>
            </a:pPr>
            <a:r>
              <a:t>CLEANING / ANALYSIS PIPELINE</a:t>
            </a:r>
          </a:p>
        </p:txBody>
      </p:sp>
      <p:pic>
        <p:nvPicPr>
          <p:cNvPr id="90" name="Picture 89" descr="workflow.png"/>
          <p:cNvPicPr>
            <a:picLocks noChangeAspect="1"/>
          </p:cNvPicPr>
          <p:nvPr/>
        </p:nvPicPr>
        <p:blipFill>
          <a:blip r:embed="rId3"/>
          <a:srcRect t="2308" b="2308"/>
          <a:stretch>
            <a:fillRect/>
          </a:stretch>
        </p:blipFill>
        <p:spPr>
          <a:xfrm>
            <a:off x="502920" y="1325880"/>
            <a:ext cx="4251960" cy="1874519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02920" y="331012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370F0"/>
                </a:solidFill>
                <a:latin typeface="Aptos"/>
              </a:defRPr>
            </a:pPr>
            <a:r>
              <a:t>DATA QUALITY: VERIFIED NOTEBOOK OUTPUTS</a:t>
            </a:r>
          </a:p>
        </p:txBody>
      </p:sp>
      <p:pic>
        <p:nvPicPr>
          <p:cNvPr id="92" name="Picture 91" descr="quality.png"/>
          <p:cNvPicPr>
            <a:picLocks noChangeAspect="1"/>
          </p:cNvPicPr>
          <p:nvPr/>
        </p:nvPicPr>
        <p:blipFill>
          <a:blip r:embed="rId4"/>
          <a:srcRect t="22153" b="22153"/>
          <a:stretch>
            <a:fillRect/>
          </a:stretch>
        </p:blipFill>
        <p:spPr>
          <a:xfrm>
            <a:off x="502920" y="3584448"/>
            <a:ext cx="4251960" cy="114300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4892040" y="1024128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370F0"/>
                </a:solidFill>
                <a:latin typeface="Aptos"/>
              </a:defRPr>
            </a:pPr>
            <a:r>
              <a:t>CLEANING STEPS RECORDED IN NOTEBOOK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92040" y="1353312"/>
            <a:ext cx="37033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1. Inspect the 2024 CSV schema and columns.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2. Investigate repeated headers and malformed CSV rows.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3. Check exact duplicates across the full file using duplicate buckets.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4. Convert test dates and numeric fields; derive vehicle age and age/mileage groups.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5. Count missing values and calculate group-level failure rates.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VALIDATION STILL OPEN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Duplicate-removal expectation: 43,442,376 rows.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Existing cleaned output: 43,441,151 rows (gap: 1,225).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Chunk-wise duplicate check alone does not prove global uniqueness.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Do not claim all missing values were imputed or that only commercial vehicles were retained.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Exploratory Data Analysis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9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1" name="Table 0"/>
          <p:cNvGraphicFramePr/>
          <p:nvPr/>
        </p:nvGraphicFramePr>
        <p:xfrm>
          <a:off x="457200" y="1097280"/>
          <a:ext cx="8229240" cy="301752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3017520"/>
                <a:gridCol w="182880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defRPr sz="900" b="1">
                          <a:latin typeface="Aptos"/>
                        </a:defRPr>
                      </a:pPr>
                      <a:r>
                        <a:t>Analysis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1"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1">
                          <a:latin typeface="Aptos"/>
                        </a:defRPr>
                      </a:pPr>
                      <a:r>
                        <a:t>Notebook result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1">
                          <a:latin typeface="Aptos"/>
                        </a:defRPr>
                      </a:pPr>
                      <a:r>
                        <a:t>Interpretation / caveat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Overall failure rate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F ÷ (P + F + PRS)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Raw: 17.26%</a:t>
                      </a:r>
                    </a:p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Cleaned output: 18.87%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Conflicting denominators; reconcile before quoting one final rate.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Vehicle age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Failures ÷ valid tests per age band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7.62% (0–3y) → 24.27% (12+y)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Observed rate rises across older age bands.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Mileage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Failures ÷ valid tests per mileage band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6.44% (0–25k) → 25.28% (150k+)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Observed rate generally rises with mileage.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Age + mileage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Cross-tabulation of both groups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Highest shown: 27.18% (12+y, 150k+)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Combined pattern supports prioritising older, high-mileage groups for review.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Make / model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Minimum sample threshold applied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Make: DAEWOO 31.68%; TALBOT 31.49% (≥1,000 tests)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defRPr sz="900" b="0">
                          <a:latin typeface="Aptos"/>
                        </a:defRPr>
                      </a:pPr>
                      <a:r>
                        <a:t>Observed group rates are not causal and may reflect fleet mix.</a:t>
                      </a:r>
                    </a:p>
                  </a:txBody>
                  <a:tcPr anchor="ctr" marL="91440" marR="91440">
                    <a:lnL w="9360">
                      <a:solidFill>
                        <a:srgbClr val="d5deeb"/>
                      </a:solidFill>
                      <a:prstDash val="solid"/>
                    </a:lnL>
                    <a:lnR w="9360">
                      <a:solidFill>
                        <a:srgbClr val="d5deeb"/>
                      </a:solidFill>
                      <a:prstDash val="solid"/>
                    </a:lnR>
                    <a:lnT w="9360">
                      <a:solidFill>
                        <a:srgbClr val="d5deeb"/>
                      </a:solidFill>
                      <a:prstDash val="solid"/>
                    </a:lnT>
                    <a:lnB w="9360">
                      <a:solidFill>
                        <a:srgbClr val="d5deeb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02" name="Text 4"/>
          <p:cNvSpPr/>
          <p:nvPr/>
        </p:nvSpPr>
        <p:spPr>
          <a:xfrm>
            <a:off x="457200" y="43434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wrap="square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  <a:defRPr sz="900" b="0">
                <a:solidFill>
                  <a:srgbClr val="1E2D40"/>
                </a:solidFill>
                <a:latin typeface="Aptos"/>
              </a:defRPr>
            </a:pPr>
            <a:r>
              <a:t>Data quality: raw missing values — mileage 537,738; engine capacity 834,190; model 40; first-use date 30; make 3. Duplicate-removal row count and overall-rate denominator still need reconciliation.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Visualization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10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106" descr="outcomes.png"/>
          <p:cNvPicPr>
            <a:picLocks noChangeAspect="1"/>
          </p:cNvPicPr>
          <p:nvPr/>
        </p:nvPicPr>
        <p:blipFill>
          <a:blip r:embed="rId3"/>
          <a:srcRect l="3752" r="3752"/>
          <a:stretch>
            <a:fillRect/>
          </a:stretch>
        </p:blipFill>
        <p:spPr>
          <a:xfrm>
            <a:off x="457200" y="1078992"/>
            <a:ext cx="2651760" cy="150876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457200" y="26014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56578"/>
                </a:solidFill>
                <a:latin typeface="Aptos"/>
              </a:defRPr>
            </a:pPr>
            <a:r>
              <a:t>Raw outcome counts: P dominates; valid-rate denominator uses P + F + PRS.</a:t>
            </a:r>
          </a:p>
        </p:txBody>
      </p:sp>
      <p:pic>
        <p:nvPicPr>
          <p:cNvPr id="109" name="Picture 108" descr="age.png"/>
          <p:cNvPicPr>
            <a:picLocks noChangeAspect="1"/>
          </p:cNvPicPr>
          <p:nvPr/>
        </p:nvPicPr>
        <p:blipFill>
          <a:blip r:embed="rId4"/>
          <a:srcRect l="3796" r="3796"/>
          <a:stretch>
            <a:fillRect/>
          </a:stretch>
        </p:blipFill>
        <p:spPr>
          <a:xfrm>
            <a:off x="3246120" y="1078992"/>
            <a:ext cx="2651760" cy="150876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3246120" y="26014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56578"/>
                </a:solidFill>
                <a:latin typeface="Aptos"/>
              </a:defRPr>
            </a:pPr>
            <a:r>
              <a:t>Age: 7.62% (0–3y) to 24.27% (12+y).</a:t>
            </a:r>
          </a:p>
        </p:txBody>
      </p:sp>
      <p:pic>
        <p:nvPicPr>
          <p:cNvPr id="111" name="Picture 110" descr="mileage.png"/>
          <p:cNvPicPr>
            <a:picLocks noChangeAspect="1"/>
          </p:cNvPicPr>
          <p:nvPr/>
        </p:nvPicPr>
        <p:blipFill>
          <a:blip r:embed="rId5"/>
          <a:srcRect l="3796" r="3796"/>
          <a:stretch>
            <a:fillRect/>
          </a:stretch>
        </p:blipFill>
        <p:spPr>
          <a:xfrm>
            <a:off x="6035040" y="1078992"/>
            <a:ext cx="2651760" cy="150876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6035040" y="2601468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56578"/>
                </a:solidFill>
                <a:latin typeface="Aptos"/>
              </a:defRPr>
            </a:pPr>
            <a:r>
              <a:t>Mileage: 6.44% (0–25k) to 25.28% (150k+).</a:t>
            </a:r>
          </a:p>
        </p:txBody>
      </p:sp>
      <p:pic>
        <p:nvPicPr>
          <p:cNvPr id="113" name="Picture 112" descr="makes.png"/>
          <p:cNvPicPr>
            <a:picLocks noChangeAspect="1"/>
          </p:cNvPicPr>
          <p:nvPr/>
        </p:nvPicPr>
        <p:blipFill>
          <a:blip r:embed="rId6"/>
          <a:srcRect t="12433" b="12433"/>
          <a:stretch>
            <a:fillRect/>
          </a:stretch>
        </p:blipFill>
        <p:spPr>
          <a:xfrm>
            <a:off x="457200" y="2907792"/>
            <a:ext cx="3977639" cy="157276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457200" y="4494276"/>
            <a:ext cx="3977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56578"/>
                </a:solidFill>
                <a:latin typeface="Aptos"/>
              </a:defRPr>
            </a:pPr>
            <a:r>
              <a:t>Make rates shown only for groups with ≥1,000 valid tests.</a:t>
            </a:r>
          </a:p>
        </p:txBody>
      </p:sp>
      <p:pic>
        <p:nvPicPr>
          <p:cNvPr id="115" name="Picture 114" descr="combined.png"/>
          <p:cNvPicPr>
            <a:picLocks noChangeAspect="1"/>
          </p:cNvPicPr>
          <p:nvPr/>
        </p:nvPicPr>
        <p:blipFill>
          <a:blip r:embed="rId7"/>
          <a:srcRect t="11199" b="11199"/>
          <a:stretch>
            <a:fillRect/>
          </a:stretch>
        </p:blipFill>
        <p:spPr>
          <a:xfrm>
            <a:off x="4572000" y="2907792"/>
            <a:ext cx="4114800" cy="157276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4572000" y="4494276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800" b="0">
                <a:solidFill>
                  <a:srgbClr val="556578"/>
                </a:solidFill>
                <a:latin typeface="Aptos"/>
              </a:defRPr>
            </a:pPr>
            <a:r>
              <a:t>Highest shown combination: 12+ years and 150k+ mileage = 27.18%.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Insights and Recommendations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11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4"/>
          <p:cNvSpPr/>
          <p:nvPr/>
        </p:nvSpPr>
        <p:spPr>
          <a:xfrm>
            <a:off x="457200" y="1097280"/>
            <a:ext cx="4023000" cy="356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457200" y="1097280"/>
            <a:ext cx="54360" cy="35658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64008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A. Key Insights (verified only)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7"/>
          <p:cNvSpPr/>
          <p:nvPr/>
        </p:nvSpPr>
        <p:spPr>
          <a:xfrm>
            <a:off x="640080" y="1554480"/>
            <a:ext cx="3702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wrap="square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  <a:defRPr sz="1000" b="0">
                <a:solidFill>
                  <a:srgbClr val="1E2D40"/>
                </a:solidFill>
                <a:latin typeface="Aptos"/>
              </a:defRPr>
            </a:pPr>
            <a:r>
              <a:t>• Age trend: observed failure rate rises from 7.62% (0–3 years) to 24.27% (12+ years).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  <a:defRPr sz="10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E2D40"/>
                </a:solidFill>
                <a:latin typeface="Aptos"/>
              </a:defRPr>
            </a:pPr>
            <a:r>
              <a:t>• Mileage trend: rises from 6.44% (0–25k) to 25.28% (150k+).</a:t>
            </a:r>
          </a:p>
          <a:p>
            <a:pPr>
              <a:spcAft>
                <a:spcPts val="400"/>
              </a:spcAft>
              <a:defRPr sz="10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E2D40"/>
                </a:solidFill>
                <a:latin typeface="Aptos"/>
              </a:defRPr>
            </a:pPr>
            <a:r>
              <a:t>• Combined: 12+ years / 150k+ group shows 27.18%.</a:t>
            </a:r>
          </a:p>
          <a:p>
            <a:pPr>
              <a:spcAft>
                <a:spcPts val="400"/>
              </a:spcAft>
              <a:defRPr sz="10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E2D40"/>
                </a:solidFill>
                <a:latin typeface="Aptos"/>
              </a:defRPr>
            </a:pPr>
            <a:r>
              <a:t>• Make rates (≥1,000 tests): DAEWOO 31.68%; TALBOT 31.49%.</a:t>
            </a:r>
          </a:p>
          <a:p>
            <a:pPr>
              <a:spcAft>
                <a:spcPts val="400"/>
              </a:spcAft>
              <a:defRPr sz="10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 b="0">
                <a:solidFill>
                  <a:srgbClr val="1E2D40"/>
                </a:solidFill>
                <a:latin typeface="Aptos"/>
              </a:defRPr>
            </a:pPr>
            <a:r>
              <a:t>• Overall rate conflict: raw 17.26% vs cleaned-output 18.87%; resolve before final reporting.</a:t>
            </a:r>
          </a:p>
        </p:txBody>
      </p:sp>
      <p:sp>
        <p:nvSpPr>
          <p:cNvPr id="125" name="Shape 8"/>
          <p:cNvSpPr/>
          <p:nvPr/>
        </p:nvSpPr>
        <p:spPr>
          <a:xfrm>
            <a:off x="4663440" y="1097280"/>
            <a:ext cx="4023000" cy="356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4663440" y="1097280"/>
            <a:ext cx="54360" cy="35658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484632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B. Recommendations (general, qualified)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4846320" y="1554480"/>
            <a:ext cx="3702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wrap="square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Prioritise inspection review for older, high-mileage vehicles; use these rates as screening signals, not a prediction.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Set a minimum sample size before comparing makes/models.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Investigate repeated defects using MOT failure-item records.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Validate against fleet maintenance and roadside breakdown logs before operational use.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Track missing mileage/engine-capacity data and finish duplicate reconciliation.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0" y="822960"/>
            <a:ext cx="9143640" cy="45360"/>
          </a:xfrm>
          <a:prstGeom prst="rect">
            <a:avLst/>
          </a:prstGeom>
          <a:solidFill>
            <a:srgbClr val="2e75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457200" y="9144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 and Future Scope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457200" y="484632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b6b80"/>
                </a:solidFill>
                <a:effectLst/>
                <a:uFillTx/>
                <a:latin typeface="Calibri"/>
                <a:ea typeface="Calibri"/>
              </a:rPr>
              <a:t>Source: UK DVSA anonymised MOT test results, 2024  |  12 / 12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4"/>
          <p:cNvSpPr/>
          <p:nvPr/>
        </p:nvSpPr>
        <p:spPr>
          <a:xfrm>
            <a:off x="457200" y="1097280"/>
            <a:ext cx="4023000" cy="356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457200" y="1097280"/>
            <a:ext cx="54360" cy="35658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64008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640080" y="1554480"/>
            <a:ext cx="3702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wrap="square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Analysed UK DVSA 2024 MOT test outcomes using Python, Pandas, NumPy and Matplotlib.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Notebook results show observed failure rates increase with vehicle age and mileage.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The highest shown combined group is 12+ years and 150k+ mileage (27.18%).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These are associations in MOT tests, not roadside-breakdown probabilities.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Final limitation: overall rate and duplicate-removal row counts require reconciliation.</a:t>
            </a:r>
          </a:p>
        </p:txBody>
      </p:sp>
      <p:sp>
        <p:nvSpPr>
          <p:cNvPr id="137" name="Shape 8"/>
          <p:cNvSpPr/>
          <p:nvPr/>
        </p:nvSpPr>
        <p:spPr>
          <a:xfrm>
            <a:off x="4663440" y="1097280"/>
            <a:ext cx="4023000" cy="356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9"/>
          <p:cNvSpPr/>
          <p:nvPr/>
        </p:nvSpPr>
        <p:spPr>
          <a:xfrm>
            <a:off x="4663440" y="1097280"/>
            <a:ext cx="54360" cy="3565800"/>
          </a:xfrm>
          <a:prstGeom prst="rect">
            <a:avLst/>
          </a:prstGeom>
          <a:solidFill>
            <a:srgbClr val="2e75d6"/>
          </a:solidFill>
          <a:ln w="12700">
            <a:solidFill>
              <a:srgbClr val="2e75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484632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e75d6"/>
                </a:solidFill>
                <a:effectLst/>
                <a:uFillTx/>
                <a:latin typeface="Calibri"/>
                <a:ea typeface="Calibri"/>
              </a:rPr>
              <a:t>Future Scope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4846320" y="1554480"/>
            <a:ext cx="370296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wrap="square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400"/>
              </a:spcAft>
              <a:buClr>
                <a:srgbClr val="0b1f3a"/>
              </a:buClr>
              <a:buFont typeface="Symbol" charset="2"/>
              <a:buChar char=""/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Join multi-year MOT history with maintenance work orders, defect items, repair cost and breakdown records.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Validate the cleaned dataset and resolve the 1,225-row difference.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Extend analysis to a clearly defined commercial-vehicle subset (e.g., Class 7) before fleet-specific conclusions.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After data validation, test a machine-learning risk model with time-based validation.</a:t>
            </a: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1E2D40"/>
                </a:solidFill>
                <a:latin typeface="Aptos"/>
              </a:defRPr>
            </a:pPr>
            <a:r>
              <a:t>• Build a dashboard for maintenance prioritisation.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LibreOffice/25.2.3.2$Linux_X86_64 LibreOffice_project/520$Build-2</Application>
  <AppVersion>15.0000</AppVersion>
  <Words>1585</Words>
  <Paragraphs>205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2026-10-14T09:22:52Z</dcterms:created>
  <dc:creator>Shri Venkat Subramani</dc:creator>
  <dc:description/>
  <dc:language>en-US</dc:language>
  <cp:lastModifiedBy>sri venkat</cp:lastModifiedBy>
  <dcterms:modified xsi:type="dcterms:W3CDTF">2026-10-14T09:39:34Z</dcterms:modified>
  <cp:revision>2</cp:revision>
  <dc:subject>PptxGenJS Presentation</dc:subject>
  <dc:title>Commercial Vehicle Reliability &amp; Failure Pattern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